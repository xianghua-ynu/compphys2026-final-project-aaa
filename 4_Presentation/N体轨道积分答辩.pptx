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3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。我们组的期末项目选题是A-2，N体轨道积分——太阳系简化模型与Leapfrog守恒性分析。今天我将用七分钟时间，向大家展示：不同的数值积分方法，对天体轨道长期演化会产生怎样惊人的差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体问题是天体力学中最基本也最具挑战性的问题之一。从牛顿时代起，我们就知道两体问题有解析解——就是大家熟知的Kepler椭圆轨道。但一旦天体数量达到三个或以上，系统就会变得混沌，只能通过数值方法求解。</a:t>
            </a:r>
          </a:p>
          <a:p>
            <a:endParaRPr lang="zh-CN" dirty="0"/>
          </a:p>
          <a:p>
            <a:r>
              <a:rPr lang="zh-CN" dirty="0"/>
              <a:t>那么这里就产生了一个核心问题：不同的数值积分方法，对轨道长期演化的模拟结果到底有什么影响？为了回答这个问题，我们设计了三组实验：两体系统直接对比、收敛性测试、以及三体系统的Kozai-Lidov机制研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我们的物理模型基于牛顿万有引力定律。这个公式是N体运动方程，其中我们引入了软化参数epsilon，防止天体碰撞时距离趋近于零产生的数值奇点。</a:t>
            </a:r>
          </a:p>
          <a:p>
            <a:endParaRPr lang="zh-CN" dirty="0"/>
          </a:p>
          <a:p>
            <a:r>
              <a:rPr lang="zh-CN" dirty="0"/>
              <a:t>我们采用天体力学中常用的无量纲单位制：长度用天文单位、质量用太阳质量、时间用年。在这个单位制下，引力常数G恰好等于4π平方，非常简洁。</a:t>
            </a:r>
          </a:p>
          <a:p>
            <a:endParaRPr lang="zh-CN" dirty="0"/>
          </a:p>
          <a:p>
            <a:r>
              <a:rPr lang="zh-CN" dirty="0"/>
              <a:t>判断数值方法质量的核心指标是系统总能量。对于保守力学系统，能量应当守恒。这里需要特别说明一个关键概念：辛结构。辛积分器能够保持相空间面积不变，这意味着能量虽然不精确守恒，但会在真实值附近有界振荡，没有长期漂移。而非辛方法——比如Euler——每一步都在系统性地注入伪能量，导致轨道螺旋外扩。这完全是数值伪影，不代表真实物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我们具体来看两种方法。Euler方法是一阶精度、非辛的。它的迭代格式非常简单：用当前加速度更新速度，再用当前速度更新位置。本质缺陷在于"信息滞后"——你用旧的速度去更新位置，相当于假设加速度在时间步长内保持不变。在天体力学中，这导致不可逆的能量注入，轨道会螺旋外扩。</a:t>
            </a:r>
          </a:p>
          <a:p>
            <a:endParaRPr lang="zh-CN" dirty="0"/>
          </a:p>
          <a:p>
            <a:r>
              <a:rPr lang="zh-CN" dirty="0"/>
              <a:t>Leapfrog方法，也叫速度Verlet，是二阶精度、辛的。它的核心思想是对称交错：先用半加速度把速度推到中点，再用中点速度更新位置，然后用新位置的加速度完成速度更新。这种对称格式保持了相空间的辛结构，因此能量可以长期有界振荡。</a:t>
            </a:r>
          </a:p>
          <a:p>
            <a:endParaRPr lang="zh-CN" dirty="0"/>
          </a:p>
          <a:p>
            <a:r>
              <a:rPr lang="zh-CN" dirty="0"/>
              <a:t>两者的差距有多惊人呢？100年模拟后，Euler的能量漂移达到百分之六十五点七——地球几乎要从轨道上飞走了。而Leapfrog的漂移只有十的负十四次方百分比，误差比超过十的十三次方。这不是精度的差异，是结构性的差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这张六合一的综合对比面板是论文的核心图表。图a是Euler方法的轨道——可以清楚地看到螺旋外扩，轨道半径持续增大。图b是Leapfrog的轨道——漂亮的闭合椭圆，完美符合Kepler定律。</a:t>
            </a:r>
          </a:p>
          <a:p>
            <a:endParaRPr lang="zh-CN" dirty="0"/>
          </a:p>
          <a:p>
            <a:r>
              <a:rPr lang="zh-CN" dirty="0"/>
              <a:t>图c到图f分别展示了能量偏差、半对数能量误差、角动量误差和数值总结。所有子图指向同一个结论：Leapfrog辛积分器在长期轨道模拟中具有压倒性优势。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收敛性测试可能是我们整个研究中最有趣的部分。我们固定模拟时长为十年，逐步减小时间步长，记录最终能量误差。</a:t>
            </a:r>
          </a:p>
          <a:p>
            <a:endParaRPr lang="zh-CN" dirty="0"/>
          </a:p>
          <a:p>
            <a:r>
              <a:rPr lang="zh-CN" dirty="0"/>
              <a:t>理论预期很简单：Euler应该表现出一阶精度，对数斜率约为一；Leapfrog应该是二阶精度，斜率约为二。但实测结果出人意料：Euler的斜率只有零点二八，远低于理论值；Leapfrog的斜率高达六点六，远高于理论值。</a:t>
            </a:r>
          </a:p>
          <a:p>
            <a:endParaRPr lang="zh-CN" dirty="0"/>
          </a:p>
          <a:p>
            <a:r>
              <a:rPr lang="zh-CN" dirty="0"/>
              <a:t>这不是代码错误——这是真实的物理现象。Euler的非辛性质导致系统性能量漂移无法仅通过减小步长消除，所以收敛速度远低于预期。而Leapfrog在步长小于零点零一年后，迅速进入舍入误差主导区，此时继续减小步长不再提高精度。在最小步长下，Leapfrog误差已达十的负十四次方，非常接近机器极限。这恰好证明了辛积分器的数值优越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代码架构清晰分为三个模块。physics点py负责物理核心：引力加速度的半向量化计算、能量、角动量和轨道根数追踪。solvers点py实现两种积分器：Euler和Leapfrog。analysis点py负责所有可视化，共生成了十一张图表和三组CSV数据文件。</a:t>
            </a:r>
          </a:p>
          <a:p>
            <a:endParaRPr lang="zh-CN" dirty="0"/>
          </a:p>
          <a:p>
            <a:r>
              <a:rPr lang="zh-CN" dirty="0"/>
              <a:t>整个项目只需两条命令即可运行：安装依赖后执行main点py，自动完成全部模拟和图表生成。最终的结果数据相当震撼——Euler一百年能量漂移百分之六十五点七，而Leapfrog仅十的负十四次方百分比，误差比超过十的十三次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三个核心结论。第一，对于长期轨道模拟，辛积分器不是可选项，而是必需品。第二，Euler方法的失败不是简单的精度不足，而是非辛性质导致的系统性缺陷——减小步长只能减缓、无法消除。第三，我们成功在三体系统中观测到了Kozai-Lidov机制的e-i耦合振荡，并验证了Kozai积分守恒。</a:t>
            </a:r>
          </a:p>
          <a:p>
            <a:endParaRPr lang="zh-CN" dirty="0"/>
          </a:p>
          <a:p>
            <a:r>
              <a:rPr lang="zh-CN" dirty="0"/>
              <a:t>未来工作方向包括：扩展更多天体、实现自适应步长、尝试四阶Yoshida等高阶辛积分器，以及并行化加速计算。</a:t>
            </a:r>
          </a:p>
          <a:p>
            <a:endParaRPr lang="zh-CN" dirty="0"/>
          </a:p>
          <a:p>
            <a:r>
              <a:rPr lang="zh-CN" dirty="0"/>
              <a:t>在Q&amp;A环节，我们已经准备了这些常见问题的回答。最后，谢谢各位老师，欢迎提问。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285750"/>
            <a:ext cx="12192000" cy="7143750"/>
            <a:chOff x="0" y="-285750"/>
            <a:chExt cx="12192000" cy="7143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2440"/>
                </a:gs>
                <a:gs pos="50000">
                  <a:srgbClr val="1A3A5C"/>
                </a:gs>
                <a:gs pos="100000">
                  <a:srgbClr val="2B6CB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B6CB0">
                    <a:alpha val="25000"/>
                  </a:srgbClr>
                </a:gs>
                <a:gs pos="100000">
                  <a:srgbClr val="0F244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D4380D">
                    <a:alpha val="12000"/>
                  </a:srgbClr>
                </a:gs>
                <a:gs pos="100000">
                  <a:srgbClr val="0F244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763000" y="-285750"/>
              <a:ext cx="3429000" cy="3429000"/>
            </a:xfrm>
            <a:prstGeom prst="ellipse">
              <a:avLst/>
            </a:prstGeom>
            <a:solidFill>
              <a:srgbClr val="2B6CB0">
                <a:alpha val="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571500" y="4191000"/>
              <a:ext cx="2667000" cy="2667000"/>
            </a:xfrm>
            <a:prstGeom prst="ellipse">
              <a:avLst/>
            </a:prstGeom>
            <a:solidFill>
              <a:srgbClr val="D4380D">
                <a:alpha val="5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52500" y="1905000"/>
            <a:ext cx="12444222" cy="2390775"/>
            <a:chOff x="952500" y="1905000"/>
            <a:chExt cx="12444222" cy="2390775"/>
          </a:xfrm>
        </p:grpSpPr>
        <p:sp>
          <p:nvSpPr>
            <p:cNvPr id="8" name="Rectangle 8"/>
            <p:cNvSpPr/>
            <p:nvPr/>
          </p:nvSpPr>
          <p:spPr>
            <a:xfrm>
              <a:off x="952500" y="1905000"/>
              <a:ext cx="57150" cy="2095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D4380D"/>
                </a:gs>
                <a:gs pos="100000">
                  <a:srgbClr val="2B6CB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7290" y="2148840"/>
              <a:ext cx="385198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N体轨道积分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910840"/>
              <a:ext cx="1221943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太阳系简化模型与 </a:t>
              </a:r>
              <a:r>
                <a:rPr lang="zh-CN" sz="4800" b="1" dirty="0">
                  <a:solidFill>
                    <a:srgbClr val="D4380D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Leapfrog</a:t>
              </a:r>
              <a:r>
                <a:rPr lang="zh-CN" sz="4800" b="1" dirty="0">
                  <a:solidFill>
                    <a:srgbClr val="FFFFFF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 守恒性分析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7295" y="3822382"/>
              <a:ext cx="332943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汇报人：徐浩祺     小组成员：肖羽 </a:t>
              </a:r>
              <a:endParaRPr lang="zh-CN" sz="16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238250" y="4286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64748B">
                  <a:alpha val="50000"/>
                </a:srgbClr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1186470" y="6483191"/>
            <a:ext cx="4445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3A5C">
                    <a:alpha val="4000"/>
                  </a:srgbClr>
                </a:gs>
                <a:gs pos="100000">
                  <a:srgbClr val="1A3A5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89610" y="318135"/>
              <a:ext cx="460514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为什么关心数值积分方法？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095375"/>
            <a:ext cx="5684758" cy="1524000"/>
            <a:chOff x="571500" y="1095375"/>
            <a:chExt cx="5684758" cy="1524000"/>
          </a:xfrm>
        </p:grpSpPr>
        <p:sp>
          <p:nvSpPr>
            <p:cNvPr id="9" name="Rectangle 9"/>
            <p:cNvSpPr/>
            <p:nvPr/>
          </p:nvSpPr>
          <p:spPr>
            <a:xfrm>
              <a:off x="571500" y="1095375"/>
              <a:ext cx="5334000" cy="1524000"/>
            </a:xfrm>
            <a:prstGeom prst="roundRect">
              <a:avLst>
                <a:gd name="adj" fmla="val 625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09537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00112" y="1423988"/>
              <a:ext cx="257175" cy="257175"/>
              <a:chOff x="900112" y="1423988"/>
              <a:chExt cx="257175" cy="2571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14412" y="153828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57262" y="1481138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0112" y="1423988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12545" y="1345882"/>
              <a:ext cx="31723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N体问题是天体力学的核心挑战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6355" y="1711642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描述N个天体在万有引力作用下的运动 —— 从牛顿时代延续至今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6355" y="1997392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两体有 </a:t>
              </a:r>
              <a:r>
                <a:rPr lang="zh-CN" sz="1350" b="1" dirty="0">
                  <a:solidFill>
                    <a:srgbClr val="1A3A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Kepler解析解</a:t>
              </a:r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，三体及以上 </a:t>
              </a:r>
              <a:r>
                <a:rPr lang="zh-CN" sz="135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混沌</a:t>
              </a:r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→ 只能数值求解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6355" y="2283142"/>
              <a:ext cx="4201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太阳系行星轨道长期稳定性 → 计算天体物理前沿问题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095375"/>
            <a:ext cx="5551992" cy="1524000"/>
            <a:chOff x="6286500" y="1095375"/>
            <a:chExt cx="5551992" cy="1524000"/>
          </a:xfrm>
        </p:grpSpPr>
        <p:sp>
          <p:nvSpPr>
            <p:cNvPr id="20" name="Rectangle 20"/>
            <p:cNvSpPr/>
            <p:nvPr/>
          </p:nvSpPr>
          <p:spPr>
            <a:xfrm>
              <a:off x="6286500" y="1095375"/>
              <a:ext cx="5334000" cy="1524000"/>
            </a:xfrm>
            <a:prstGeom prst="roundRect">
              <a:avLst>
                <a:gd name="adj" fmla="val 625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09537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615112" y="1423988"/>
              <a:ext cx="257175" cy="257175"/>
              <a:chOff x="6615112" y="1423988"/>
              <a:chExt cx="257175" cy="2571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615112" y="1423988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0" y="228600"/>
                    </a:moveTo>
                    <a:cubicBezTo>
                      <a:pt x="0" y="244382"/>
                      <a:pt x="12793" y="257175"/>
                      <a:pt x="28575" y="257175"/>
                    </a:cubicBezTo>
                    <a:cubicBezTo>
                      <a:pt x="57150" y="257175"/>
                      <a:pt x="57150" y="200025"/>
                      <a:pt x="71438" y="128588"/>
                    </a:cubicBezTo>
                    <a:cubicBezTo>
                      <a:pt x="85725" y="57150"/>
                      <a:pt x="85725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</a:path>
                </a:pathLst>
              </a:custGeom>
              <a:noFill/>
              <a:ln w="19050">
                <a:solidFill>
                  <a:srgbClr val="2B6CB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43688" y="1552575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2B6CB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86562" y="15525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2B6CB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86562" y="15525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2B6CB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027545" y="1345882"/>
              <a:ext cx="3045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不同数值方法的差异有多大？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1355" y="1711642"/>
              <a:ext cx="44718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简单方法（Euler）：每步误差小，长期积累 → 轨道漂移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1355" y="1997392"/>
              <a:ext cx="44538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辛方法（Leapfrog）：保持相空间结构 → 能量有界振荡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31355" y="2283142"/>
              <a:ext cx="48071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能量误差比可达 10¹³ 倍 —— 不是精度问题，是结构问题！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2857500"/>
            <a:ext cx="11049000" cy="857250"/>
            <a:chOff x="571500" y="2857500"/>
            <a:chExt cx="11049000" cy="857250"/>
          </a:xfrm>
        </p:grpSpPr>
        <p:sp>
          <p:nvSpPr>
            <p:cNvPr id="32" name="Rectangle 32"/>
            <p:cNvSpPr/>
            <p:nvPr/>
          </p:nvSpPr>
          <p:spPr>
            <a:xfrm>
              <a:off x="571500" y="2857500"/>
              <a:ext cx="11049000" cy="857250"/>
            </a:xfrm>
            <a:prstGeom prst="roundRect">
              <a:avLst>
                <a:gd name="adj" fmla="val 11111"/>
              </a:avLst>
            </a:prstGeom>
            <a:solidFill>
              <a:srgbClr val="1A3A5C">
                <a:alpha val="6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95350" y="3162300"/>
              <a:ext cx="228600" cy="228600"/>
              <a:chOff x="895350" y="3162300"/>
              <a:chExt cx="228600" cy="228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09650" y="32893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0750" y="32893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73150" y="32385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9650" y="31623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95350" y="32385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20750" y="31623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10640" y="30441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核心问题：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14450" y="3362325"/>
              <a:ext cx="69589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不同数值积分方法对轨道 </a:t>
              </a:r>
              <a:r>
                <a:rPr lang="zh-CN" sz="15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长期演化</a:t>
              </a:r>
              <a:r>
                <a:rPr lang="zh-CN" sz="15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的模拟结果有何影响？如何量化这种差异？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4000500"/>
            <a:ext cx="11049000" cy="1905000"/>
            <a:chOff x="571500" y="4000500"/>
            <a:chExt cx="11049000" cy="1905000"/>
          </a:xfrm>
        </p:grpSpPr>
        <p:sp>
          <p:nvSpPr>
            <p:cNvPr id="43" name="Rectangle 43"/>
            <p:cNvSpPr/>
            <p:nvPr/>
          </p:nvSpPr>
          <p:spPr>
            <a:xfrm>
              <a:off x="571500" y="4000500"/>
              <a:ext cx="352425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19150" y="4248150"/>
              <a:ext cx="457200" cy="45720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2141" y="4365308"/>
              <a:ext cx="1112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A5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11605" y="4350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两体系统对比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2010" y="4728210"/>
              <a:ext cx="16226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太阳-地球，100年模拟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2010" y="4966335"/>
              <a:ext cx="20947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Euler vs Leapfrog 直接对照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010" y="5204460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轨道形态 + 能量守恒 + 角动量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333875" y="4000500"/>
              <a:ext cx="352425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4581525" y="4248150"/>
              <a:ext cx="457200" cy="457200"/>
            </a:xfrm>
            <a:prstGeom prst="ellipse">
              <a:avLst/>
            </a:prstGeom>
            <a:solidFill>
              <a:srgbClr val="2B6CB0">
                <a:alpha val="12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725637" y="436530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B6CB0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73980" y="4350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收敛性测试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04385" y="4728210"/>
              <a:ext cx="20147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7组不同步长，固定10年模拟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04385" y="4966335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验证精度阶数：O(Δt) vs O(Δt²)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4385" y="5204460"/>
              <a:ext cx="2190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揭示Euler非辛性质的系统误差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096250" y="4000500"/>
              <a:ext cx="352425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343900" y="4248150"/>
              <a:ext cx="457200" cy="457200"/>
            </a:xfrm>
            <a:prstGeom prst="ellipse">
              <a:avLst/>
            </a:prstGeom>
            <a:solidFill>
              <a:srgbClr val="D4380D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88012" y="436530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380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36355" y="435006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Kozai-Lidov机制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66760" y="4728210"/>
              <a:ext cx="19667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太阳-木星-小行星三体系统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66760" y="4966335"/>
              <a:ext cx="19587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偏心率 e 与倾角 i 耦合振荡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6760" y="5204460"/>
              <a:ext cx="14866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 Kozai 积分守恒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489007" y="6530816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1" grpId="0"/>
      <p:bldP spid="42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9610" y="3181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物理模型与控制方程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047750"/>
            <a:ext cx="6667500" cy="1905000"/>
            <a:chOff x="571500" y="1047750"/>
            <a:chExt cx="6667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6667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666750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47041" y="1351866"/>
              <a:ext cx="191868" cy="191868"/>
              <a:chOff x="847041" y="1351866"/>
              <a:chExt cx="191868" cy="19186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42975" y="1447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041" y="1351866"/>
                <a:ext cx="191868" cy="191868"/>
              </a:xfrm>
              <a:custGeom>
                <a:avLst/>
                <a:gdLst/>
                <a:ahLst/>
                <a:cxnLst/>
                <a:rect l="l" t="t" r="r" b="b"/>
                <a:pathLst>
                  <a:path w="191868" h="191868">
                    <a:moveTo>
                      <a:pt x="174511" y="17358"/>
                    </a:moveTo>
                    <a:cubicBezTo>
                      <a:pt x="157153" y="0"/>
                      <a:pt x="107836" y="21103"/>
                      <a:pt x="64497" y="64508"/>
                    </a:cubicBezTo>
                    <a:cubicBezTo>
                      <a:pt x="21103" y="107902"/>
                      <a:pt x="0" y="157153"/>
                      <a:pt x="17358" y="174522"/>
                    </a:cubicBezTo>
                    <a:cubicBezTo>
                      <a:pt x="34715" y="191868"/>
                      <a:pt x="84033" y="170766"/>
                      <a:pt x="127371" y="127360"/>
                    </a:cubicBezTo>
                    <a:cubicBezTo>
                      <a:pt x="170766" y="83966"/>
                      <a:pt x="191868" y="34715"/>
                      <a:pt x="174511" y="17347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7041" y="1351866"/>
                <a:ext cx="191868" cy="191868"/>
              </a:xfrm>
              <a:custGeom>
                <a:avLst/>
                <a:gdLst/>
                <a:ahLst/>
                <a:cxnLst/>
                <a:rect l="l" t="t" r="r" b="b"/>
                <a:pathLst>
                  <a:path w="191868" h="191868">
                    <a:moveTo>
                      <a:pt x="17358" y="17358"/>
                    </a:moveTo>
                    <a:cubicBezTo>
                      <a:pt x="0" y="34715"/>
                      <a:pt x="21103" y="84033"/>
                      <a:pt x="64508" y="127371"/>
                    </a:cubicBezTo>
                    <a:cubicBezTo>
                      <a:pt x="107902" y="170766"/>
                      <a:pt x="157153" y="191868"/>
                      <a:pt x="174522" y="174511"/>
                    </a:cubicBezTo>
                    <a:cubicBezTo>
                      <a:pt x="191868" y="157153"/>
                      <a:pt x="170766" y="107836"/>
                      <a:pt x="127360" y="64497"/>
                    </a:cubicBezTo>
                    <a:cubicBezTo>
                      <a:pt x="83966" y="21103"/>
                      <a:pt x="34715" y="0"/>
                      <a:pt x="17347" y="17358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60145" y="1317308"/>
              <a:ext cx="2941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牛顿万有引力与N体运动方程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385" y="1632585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引力加速度（含软化参数 ε 避免 r → 0 奇点）：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0" y="1047750"/>
            <a:ext cx="4191000" cy="1905000"/>
            <a:chOff x="7429500" y="1047750"/>
            <a:chExt cx="4191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7429500" y="1047750"/>
              <a:ext cx="4191000" cy="1905000"/>
            </a:xfrm>
            <a:prstGeom prst="roundRect">
              <a:avLst>
                <a:gd name="adj" fmla="val 50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0" y="1047750"/>
              <a:ext cx="4191000" cy="381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700962" y="1347788"/>
              <a:ext cx="200025" cy="200025"/>
              <a:chOff x="7700962" y="134778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700962" y="1347788"/>
                <a:ext cx="1111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200025">
                    <a:moveTo>
                      <a:pt x="0" y="177800"/>
                    </a:moveTo>
                    <a:cubicBezTo>
                      <a:pt x="0" y="190075"/>
                      <a:pt x="9950" y="200025"/>
                      <a:pt x="22225" y="200025"/>
                    </a:cubicBezTo>
                    <a:cubicBezTo>
                      <a:pt x="44450" y="200025"/>
                      <a:pt x="44450" y="155575"/>
                      <a:pt x="55563" y="100012"/>
                    </a:cubicBezTo>
                    <a:cubicBezTo>
                      <a:pt x="66675" y="44450"/>
                      <a:pt x="66675" y="0"/>
                      <a:pt x="88900" y="0"/>
                    </a:cubicBezTo>
                    <a:cubicBezTo>
                      <a:pt x="101175" y="0"/>
                      <a:pt x="111125" y="9950"/>
                      <a:pt x="111125" y="22225"/>
                    </a:cubicBez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23188" y="1447800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834312" y="14478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34312" y="14478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020050" y="1333500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无量纲单位系统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67625" y="1600200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52385" y="1727835"/>
              <a:ext cx="17586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长度：1 AU ≈ 1.5×10¹¹ 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52385" y="19850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质量：1 M☉ ≈ 2×10³⁰ kg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52385" y="2242185"/>
              <a:ext cx="17266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时间：1 yr ≈ 3.16×10⁷ 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50480" y="2521268"/>
              <a:ext cx="8281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G = 4π²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143250"/>
            <a:ext cx="11049000" cy="1333500"/>
            <a:chOff x="571500" y="3143250"/>
            <a:chExt cx="110490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571500" y="3143250"/>
              <a:ext cx="11049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314325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5188" y="348138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5"/>
                  </a:lnTo>
                  <a:lnTo>
                    <a:pt x="66675" y="122237"/>
                  </a:lnTo>
                  <a:lnTo>
                    <a:pt x="0" y="122237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60145" y="3441382"/>
              <a:ext cx="27449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系统总能量 —— 守恒性判据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3760" y="3870960"/>
              <a:ext cx="30068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能量守恒是判断 </a:t>
              </a:r>
              <a:r>
                <a:rPr lang="zh-CN" sz="12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数值方法质量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的关键指标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23760" y="4109085"/>
              <a:ext cx="2286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有界轨道 E &lt; 0，无界轨道 E ≥ 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714875"/>
            <a:ext cx="11049000" cy="1619250"/>
            <a:chOff x="571500" y="4714875"/>
            <a:chExt cx="11049000" cy="1619250"/>
          </a:xfrm>
        </p:grpSpPr>
        <p:sp>
          <p:nvSpPr>
            <p:cNvPr id="37" name="Rectangle 37"/>
            <p:cNvSpPr/>
            <p:nvPr/>
          </p:nvSpPr>
          <p:spPr>
            <a:xfrm>
              <a:off x="571500" y="4714875"/>
              <a:ext cx="3524250" cy="1619250"/>
            </a:xfrm>
            <a:prstGeom prst="roundRect">
              <a:avLst>
                <a:gd name="adj" fmla="val 588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62000" y="4953000"/>
              <a:ext cx="381000" cy="381000"/>
            </a:xfrm>
            <a:prstGeom prst="ellipse">
              <a:avLst/>
            </a:prstGeom>
            <a:solidFill>
              <a:srgbClr val="1A3A5C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0843" y="5054918"/>
              <a:ext cx="223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68730" y="5016818"/>
              <a:ext cx="1905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辛 (Symplectic) 结构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2010" y="53949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保持相空间面积不变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6330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能量虽不精确守恒，但在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010" y="585216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真实值附近有界振荡，无长期漂移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3915" y="6096952"/>
              <a:ext cx="1768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长期轨道模拟的关键要求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33875" y="4714875"/>
              <a:ext cx="3524250" cy="1619250"/>
            </a:xfrm>
            <a:prstGeom prst="roundRect">
              <a:avLst>
                <a:gd name="adj" fmla="val 588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524375" y="4953000"/>
              <a:ext cx="381000" cy="381000"/>
            </a:xfrm>
            <a:prstGeom prst="ellipse">
              <a:avLst/>
            </a:prstGeom>
            <a:solidFill>
              <a:srgbClr val="D4380D">
                <a:alpha val="1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69376" y="5054918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380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!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31105" y="50168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非辛方法的致命缺陷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04385" y="539496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Euler等非辛方法每一步都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04385" y="5633085"/>
              <a:ext cx="14866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系统性注入"伪能量"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04385" y="5852160"/>
              <a:ext cx="14866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导致轨道螺旋外扩——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06290" y="609695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完全是数值伪影，不代表真实物理！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096250" y="4714875"/>
              <a:ext cx="3524250" cy="1619250"/>
            </a:xfrm>
            <a:prstGeom prst="roundRect">
              <a:avLst>
                <a:gd name="adj" fmla="val 5882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286750" y="4953000"/>
              <a:ext cx="381000" cy="381000"/>
            </a:xfrm>
            <a:prstGeom prst="ellipse">
              <a:avLst/>
            </a:prstGeom>
            <a:solidFill>
              <a:srgbClr val="2B6CB0">
                <a:alpha val="12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08124" y="50549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6CB0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93480" y="501681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软化参数 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6760" y="5394960"/>
              <a:ext cx="15586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防止天体碰撞时 r → 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66760" y="56330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加速度分母变为：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67712" y="5860256"/>
              <a:ext cx="11912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(r² + ε²)^(3/2)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68665" y="6096952"/>
              <a:ext cx="19939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ε = 10⁻⁴ AU，对物理结果无影响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89007" y="6530816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C27BE89-1D61-71B6-A324-9094789F0ADD}"/>
                  </a:ext>
                </a:extLst>
              </p:cNvPr>
              <p:cNvSpPr txBox="1"/>
              <p:nvPr/>
            </p:nvSpPr>
            <p:spPr>
              <a:xfrm>
                <a:off x="1880179" y="2003948"/>
                <a:ext cx="3799758" cy="891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𝐺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𝒋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C27BE89-1D61-71B6-A324-9094789F0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179" y="2003948"/>
                <a:ext cx="3799758" cy="8912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6C9BB088-992C-72C9-B49F-01E8206CD045}"/>
                  </a:ext>
                </a:extLst>
              </p:cNvPr>
              <p:cNvSpPr txBox="1"/>
              <p:nvPr/>
            </p:nvSpPr>
            <p:spPr>
              <a:xfrm>
                <a:off x="3581183" y="3585223"/>
                <a:ext cx="3065198" cy="877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6C9BB088-992C-72C9-B49F-01E8206CD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183" y="3585223"/>
                <a:ext cx="3065198" cy="877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9" grpId="0"/>
      <p:bldP spid="36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9610" y="318135"/>
              <a:ext cx="52100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数值方法：Euler vs Leapfrog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71500" y="1047750"/>
            <a:ext cx="5334000" cy="2952750"/>
            <a:chOff x="571500" y="1047750"/>
            <a:chExt cx="5334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5334000" cy="29527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D4380D">
                <a:alpha val="8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28750"/>
              <a:ext cx="5334000" cy="95250"/>
            </a:xfrm>
            <a:prstGeom prst="rect">
              <a:avLst/>
            </a:prstGeom>
            <a:solidFill>
              <a:srgbClr val="D4380D">
                <a:alpha val="8000"/>
              </a:srgbClr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45344" y="1293019"/>
              <a:ext cx="214313" cy="214312"/>
              <a:chOff x="845344" y="1293019"/>
              <a:chExt cx="214313" cy="2143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45344" y="1293019"/>
                <a:ext cx="11906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14312">
                    <a:moveTo>
                      <a:pt x="0" y="190500"/>
                    </a:moveTo>
                    <a:cubicBezTo>
                      <a:pt x="0" y="203651"/>
                      <a:pt x="10661" y="214312"/>
                      <a:pt x="23812" y="214312"/>
                    </a:cubicBezTo>
                    <a:cubicBezTo>
                      <a:pt x="47625" y="214312"/>
                      <a:pt x="47625" y="166688"/>
                      <a:pt x="59531" y="107156"/>
                    </a:cubicBezTo>
                    <a:cubicBezTo>
                      <a:pt x="71438" y="47625"/>
                      <a:pt x="71438" y="0"/>
                      <a:pt x="95250" y="0"/>
                    </a:cubicBezTo>
                    <a:cubicBezTo>
                      <a:pt x="108401" y="0"/>
                      <a:pt x="119062" y="10661"/>
                      <a:pt x="119062" y="23812"/>
                    </a:cubicBez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69156" y="140017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8219" y="140017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8219" y="140017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75385" y="1237298"/>
              <a:ext cx="13600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D4380D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Euler 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05212" y="1259681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4380D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一阶精度 · 非辛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94385" y="1727835"/>
              <a:ext cx="2080336" cy="529590"/>
              <a:chOff x="794385" y="1727835"/>
              <a:chExt cx="2080336" cy="52959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94385" y="1727835"/>
                <a:ext cx="20803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v(t+Δt) = v(t) + a(t)·Δt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4385" y="2013585"/>
                <a:ext cx="20803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r(t+Δt) = r(t) + v(t)·Δt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809625" y="23622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385" y="25184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本质缺陷：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4385" y="2775585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只用当前加速度更新，假设Δt内加速度不变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061335"/>
              <a:ext cx="2286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"信息滞后"：用旧速度更新位置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4385" y="3347085"/>
              <a:ext cx="27188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不可逆的能量注入 → 轨道螺旋外扩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6290" y="3649028"/>
              <a:ext cx="31210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在天体力学中导致轨道不断向外漂移——纯数值伪影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1047750"/>
            <a:ext cx="5334000" cy="2952750"/>
            <a:chOff x="6286500" y="1047750"/>
            <a:chExt cx="5334000" cy="2952750"/>
          </a:xfrm>
        </p:grpSpPr>
        <p:sp>
          <p:nvSpPr>
            <p:cNvPr id="27" name="Rectangle 27"/>
            <p:cNvSpPr/>
            <p:nvPr/>
          </p:nvSpPr>
          <p:spPr>
            <a:xfrm>
              <a:off x="6286500" y="1047750"/>
              <a:ext cx="5334000" cy="29527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047750"/>
              <a:ext cx="5334000" cy="476250"/>
            </a:xfrm>
            <a:prstGeom prst="roundRect">
              <a:avLst>
                <a:gd name="adj" fmla="val 20000"/>
              </a:avLst>
            </a:prstGeom>
            <a:solidFill>
              <a:srgbClr val="2B6CB0">
                <a:alpha val="8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428750"/>
              <a:ext cx="5334000" cy="95250"/>
            </a:xfrm>
            <a:prstGeom prst="rect">
              <a:avLst/>
            </a:prstGeom>
            <a:solidFill>
              <a:srgbClr val="2B6CB0">
                <a:alpha val="8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584156" y="1293019"/>
              <a:ext cx="166688" cy="214312"/>
            </a:xfrm>
            <a:custGeom>
              <a:avLst/>
              <a:gdLst/>
              <a:ahLst/>
              <a:cxnLst/>
              <a:rect l="l" t="t" r="r" b="b"/>
              <a:pathLst>
                <a:path w="166688" h="214312">
                  <a:moveTo>
                    <a:pt x="95250" y="0"/>
                  </a:moveTo>
                  <a:lnTo>
                    <a:pt x="95250" y="83344"/>
                  </a:lnTo>
                  <a:lnTo>
                    <a:pt x="166688" y="83344"/>
                  </a:lnTo>
                  <a:lnTo>
                    <a:pt x="71438" y="214312"/>
                  </a:lnTo>
                  <a:lnTo>
                    <a:pt x="71438" y="130969"/>
                  </a:lnTo>
                  <a:lnTo>
                    <a:pt x="0" y="130969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385" y="1237298"/>
              <a:ext cx="301195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B6CB0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Leapfrog (速度Verlet)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82212" y="1259681"/>
              <a:ext cx="9511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B6CB0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二阶精度 · 辛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509385" y="1727835"/>
              <a:ext cx="2609602" cy="1101090"/>
              <a:chOff x="6509385" y="1727835"/>
              <a:chExt cx="2609602" cy="110109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509385" y="1727835"/>
                <a:ext cx="23575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v(t+½Δt) = v(t) + ½·a(t)·Δt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09385" y="2013585"/>
                <a:ext cx="244998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r(t+Δt) = r(t) + v(t+½Δt)·Δt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09385" y="2299335"/>
                <a:ext cx="164348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a_new = f(r(t+Δt))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09385" y="2585085"/>
                <a:ext cx="26096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v(t+Δt)= v(t+½Δt)+½·a_new·Δt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6524625" y="29337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09385" y="30899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为何守恒？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09385" y="3347085"/>
              <a:ext cx="32068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来自Trotter分解，动能与势能算子交错作用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09385" y="3632835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保持相空间辛结构 → 能量长期有界振荡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4238625"/>
            <a:ext cx="11049000" cy="714375"/>
            <a:chOff x="571500" y="4238625"/>
            <a:chExt cx="11049000" cy="714375"/>
          </a:xfrm>
        </p:grpSpPr>
        <p:sp>
          <p:nvSpPr>
            <p:cNvPr id="43" name="Rectangle 43"/>
            <p:cNvSpPr/>
            <p:nvPr/>
          </p:nvSpPr>
          <p:spPr>
            <a:xfrm>
              <a:off x="571500" y="4238625"/>
              <a:ext cx="11049000" cy="714375"/>
            </a:xfrm>
            <a:prstGeom prst="roundRect">
              <a:avLst>
                <a:gd name="adj" fmla="val 13333"/>
              </a:avLst>
            </a:prstGeom>
            <a:solidFill>
              <a:srgbClr val="1A3A5C">
                <a:alpha val="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90588" y="4549775"/>
              <a:ext cx="200025" cy="177800"/>
              <a:chOff x="890588" y="4549775"/>
              <a:chExt cx="200025" cy="177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90588" y="4638675"/>
                <a:ext cx="200025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55562">
                    <a:moveTo>
                      <a:pt x="200025" y="55562"/>
                    </a:moveTo>
                    <a:lnTo>
                      <a:pt x="111125" y="55562"/>
                    </a:lnTo>
                    <a:lnTo>
                      <a:pt x="72231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62874" y="4583112"/>
                <a:ext cx="127738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127738" h="55562">
                    <a:moveTo>
                      <a:pt x="127738" y="0"/>
                    </a:moveTo>
                    <a:lnTo>
                      <a:pt x="38838" y="0"/>
                    </a:lnTo>
                    <a:lnTo>
                      <a:pt x="0" y="55562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57275" y="45497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57275" y="466090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217295" y="43748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直观理解：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2058" y="4653439"/>
              <a:ext cx="100126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Euler — "先更新速度，再用旧速度更新位置"（信息滞后）；Leapfrog — "对称交错：半步速度 → 整步位置 → 整步速度"（对称守恒）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5143500"/>
            <a:ext cx="11049000" cy="1143000"/>
            <a:chOff x="571500" y="5143500"/>
            <a:chExt cx="11049000" cy="1143000"/>
          </a:xfrm>
        </p:grpSpPr>
        <p:sp>
          <p:nvSpPr>
            <p:cNvPr id="52" name="Rectangle 52"/>
            <p:cNvSpPr/>
            <p:nvPr/>
          </p:nvSpPr>
          <p:spPr>
            <a:xfrm>
              <a:off x="571500" y="5143500"/>
              <a:ext cx="35242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2962" y="5355431"/>
              <a:ext cx="14087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Euler 100年能量漂移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9150" y="5534025"/>
              <a:ext cx="122999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tx1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+</a:t>
              </a:r>
              <a:r>
                <a:rPr lang="zh-CN" sz="3000" b="1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宋体" panose="02010600030101010101" pitchFamily="2" charset="-122"/>
                  <a:ea typeface="宋体" panose="02010600030101010101" pitchFamily="2" charset="-122"/>
                  <a:cs typeface="Georgia" panose="02040502050405020303"/>
                </a:rPr>
                <a:t>65.7%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915" y="5982652"/>
              <a:ext cx="1720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轨道螺旋外扩，地球"飞走"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333875" y="5143500"/>
              <a:ext cx="35242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605338" y="5355431"/>
              <a:ext cx="1693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Leapfrog 100年能量漂移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81525" y="5534025"/>
              <a:ext cx="147002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Georgia" panose="02040502050405020303"/>
                </a:rPr>
                <a:t>~10⁻¹⁴%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06290" y="59826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轨道闭合椭圆，接近机器精度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096250" y="5143500"/>
              <a:ext cx="35242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67712" y="5355431"/>
              <a:ext cx="1896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误差比 (Euler / Leapfrog)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43900" y="5534025"/>
              <a:ext cx="115443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Georgia" panose="02040502050405020303"/>
                </a:rPr>
                <a:t>&gt; 10¹³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8665" y="59826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不是精度差，是结构性问题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489007" y="6530816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2" grpId="0"/>
      <p:bldP spid="51" grpId="0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9610" y="318135"/>
              <a:ext cx="68545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两体系统对比：太阳-地球（100年模拟）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3" name="Group 13"/>
          <p:cNvGrpSpPr/>
          <p:nvPr>
            <p:custDataLst>
              <p:tags r:id="rId1"/>
            </p:custDataLst>
          </p:nvPr>
        </p:nvGrpSpPr>
        <p:grpSpPr>
          <a:xfrm>
            <a:off x="7816215" y="1000125"/>
            <a:ext cx="3524250" cy="714375"/>
            <a:chOff x="571500" y="5619750"/>
            <a:chExt cx="3524250" cy="714375"/>
          </a:xfrm>
        </p:grpSpPr>
        <p:sp>
          <p:nvSpPr>
            <p:cNvPr id="9" name="Rectangle 9"/>
            <p:cNvSpPr/>
            <p:nvPr>
              <p:custDataLst>
                <p:tags r:id="rId12"/>
              </p:custDataLst>
            </p:nvPr>
          </p:nvSpPr>
          <p:spPr>
            <a:xfrm>
              <a:off x="571500" y="5619750"/>
              <a:ext cx="3524250" cy="714375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4288">
              <a:solidFill>
                <a:srgbClr val="D4380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>
              <p:custDataLst>
                <p:tags r:id="rId13"/>
              </p:custDataLst>
            </p:nvPr>
          </p:nvSpPr>
          <p:spPr>
            <a:xfrm>
              <a:off x="571500" y="5619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11" name="TextBox 11"/>
            <p:cNvSpPr txBox="1"/>
            <p:nvPr>
              <p:custDataLst>
                <p:tags r:id="rId14"/>
              </p:custDataLst>
            </p:nvPr>
          </p:nvSpPr>
          <p:spPr>
            <a:xfrm>
              <a:off x="746760" y="5756910"/>
              <a:ext cx="12822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图(a) Euler轨道</a:t>
              </a:r>
            </a:p>
          </p:txBody>
        </p:sp>
        <p:sp>
          <p:nvSpPr>
            <p:cNvPr id="12" name="TextBox 12"/>
            <p:cNvSpPr txBox="1"/>
            <p:nvPr>
              <p:custDataLst>
                <p:tags r:id="rId15"/>
              </p:custDataLst>
            </p:nvPr>
          </p:nvSpPr>
          <p:spPr>
            <a:xfrm>
              <a:off x="747712" y="5993606"/>
              <a:ext cx="29989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螺旋外扩 —— 能量持续注入，地球逐渐"飞走"</a:t>
              </a:r>
            </a:p>
          </p:txBody>
        </p:sp>
      </p:grpSp>
      <p:grpSp>
        <p:nvGrpSpPr>
          <p:cNvPr id="18" name="Group 18"/>
          <p:cNvGrpSpPr/>
          <p:nvPr>
            <p:custDataLst>
              <p:tags r:id="rId2"/>
            </p:custDataLst>
          </p:nvPr>
        </p:nvGrpSpPr>
        <p:grpSpPr>
          <a:xfrm>
            <a:off x="7816215" y="1938655"/>
            <a:ext cx="3524250" cy="714375"/>
            <a:chOff x="4333875" y="5619750"/>
            <a:chExt cx="3524250" cy="714375"/>
          </a:xfrm>
        </p:grpSpPr>
        <p:sp>
          <p:nvSpPr>
            <p:cNvPr id="14" name="Rectangle 14"/>
            <p:cNvSpPr/>
            <p:nvPr>
              <p:custDataLst>
                <p:tags r:id="rId8"/>
              </p:custDataLst>
            </p:nvPr>
          </p:nvSpPr>
          <p:spPr>
            <a:xfrm>
              <a:off x="4333875" y="5619750"/>
              <a:ext cx="3524250" cy="714375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4288">
              <a:solidFill>
                <a:srgbClr val="2B6CB0"/>
              </a:solidFill>
            </a:ln>
          </p:spPr>
        </p:sp>
        <p:sp>
          <p:nvSpPr>
            <p:cNvPr id="15" name="Rectangle 15"/>
            <p:cNvSpPr/>
            <p:nvPr>
              <p:custDataLst>
                <p:tags r:id="rId9"/>
              </p:custDataLst>
            </p:nvPr>
          </p:nvSpPr>
          <p:spPr>
            <a:xfrm>
              <a:off x="4333875" y="5619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6" name="TextBox 16"/>
            <p:cNvSpPr txBox="1"/>
            <p:nvPr>
              <p:custDataLst>
                <p:tags r:id="rId10"/>
              </p:custDataLst>
            </p:nvPr>
          </p:nvSpPr>
          <p:spPr>
            <a:xfrm>
              <a:off x="4509135" y="5756910"/>
              <a:ext cx="16014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图(b) Leapfrog轨道</a:t>
              </a:r>
            </a:p>
          </p:txBody>
        </p:sp>
        <p:sp>
          <p:nvSpPr>
            <p:cNvPr id="17" name="TextBox 17"/>
            <p:cNvSpPr txBox="1"/>
            <p:nvPr>
              <p:custDataLst>
                <p:tags r:id="rId11"/>
              </p:custDataLst>
            </p:nvPr>
          </p:nvSpPr>
          <p:spPr>
            <a:xfrm>
              <a:off x="4510088" y="5993606"/>
              <a:ext cx="2533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闭合椭圆 —— 能量守恒，轨道保持稳定</a:t>
              </a:r>
            </a:p>
          </p:txBody>
        </p:sp>
      </p:grpSp>
      <p:grpSp>
        <p:nvGrpSpPr>
          <p:cNvPr id="23" name="Group 23"/>
          <p:cNvGrpSpPr/>
          <p:nvPr>
            <p:custDataLst>
              <p:tags r:id="rId3"/>
            </p:custDataLst>
          </p:nvPr>
        </p:nvGrpSpPr>
        <p:grpSpPr>
          <a:xfrm>
            <a:off x="7816215" y="2877185"/>
            <a:ext cx="3524250" cy="714375"/>
            <a:chOff x="8096250" y="5619750"/>
            <a:chExt cx="3524250" cy="714375"/>
          </a:xfrm>
        </p:grpSpPr>
        <p:sp>
          <p:nvSpPr>
            <p:cNvPr id="19" name="Rectangle 19"/>
            <p:cNvSpPr/>
            <p:nvPr>
              <p:custDataLst>
                <p:tags r:id="rId4"/>
              </p:custDataLst>
            </p:nvPr>
          </p:nvSpPr>
          <p:spPr>
            <a:xfrm>
              <a:off x="8096250" y="5619750"/>
              <a:ext cx="3524250" cy="714375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4288">
              <a:solidFill>
                <a:srgbClr val="1A3A5C"/>
              </a:solidFill>
            </a:ln>
          </p:spPr>
        </p:sp>
        <p:sp>
          <p:nvSpPr>
            <p:cNvPr id="20" name="Rectangle 20"/>
            <p:cNvSpPr/>
            <p:nvPr>
              <p:custDataLst>
                <p:tags r:id="rId5"/>
              </p:custDataLst>
            </p:nvPr>
          </p:nvSpPr>
          <p:spPr>
            <a:xfrm>
              <a:off x="8096250" y="5619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>
              <p:custDataLst>
                <p:tags r:id="rId6"/>
              </p:custDataLst>
            </p:nvPr>
          </p:nvSpPr>
          <p:spPr>
            <a:xfrm>
              <a:off x="8271510" y="5756910"/>
              <a:ext cx="18283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6面板综合对比 (a)-(f)</a:t>
              </a:r>
            </a:p>
          </p:txBody>
        </p:sp>
        <p:sp>
          <p:nvSpPr>
            <p:cNvPr id="22" name="TextBox 22"/>
            <p:cNvSpPr txBox="1"/>
            <p:nvPr>
              <p:custDataLst>
                <p:tags r:id="rId7"/>
              </p:custDataLst>
            </p:nvPr>
          </p:nvSpPr>
          <p:spPr>
            <a:xfrm>
              <a:off x="8272462" y="5993606"/>
              <a:ext cx="29689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轨道 + 能量偏差 + 能量误差 + 角动量 + 总结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89007" y="6530816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</a:p>
        </p:txBody>
      </p:sp>
      <p:pic>
        <p:nvPicPr>
          <p:cNvPr id="26" name="图片 25" descr="comprehensive_2body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969645"/>
            <a:ext cx="7061200" cy="5323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9610" y="31813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收敛性测试：精度阶数验证与异常分析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4362450"/>
            <a:ext cx="11049000" cy="2000250"/>
            <a:chOff x="571500" y="4362450"/>
            <a:chExt cx="11049000" cy="2000250"/>
          </a:xfrm>
        </p:grpSpPr>
        <p:sp>
          <p:nvSpPr>
            <p:cNvPr id="9" name="Rectangle 9"/>
            <p:cNvSpPr/>
            <p:nvPr/>
          </p:nvSpPr>
          <p:spPr>
            <a:xfrm>
              <a:off x="571500" y="4362450"/>
              <a:ext cx="5334000" cy="20002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436245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8200" y="4505325"/>
              <a:ext cx="35140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Euler 实测斜率 ~0.28（理论值 1.0）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4823460"/>
              <a:ext cx="30388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理论预期误差 ∝ Δt¹（一阶精度），但实测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5061585"/>
              <a:ext cx="25267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远低于理论值。这 </a:t>
              </a:r>
              <a:r>
                <a:rPr lang="zh-CN" sz="12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不是代码错误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5299710"/>
              <a:ext cx="279563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而</a:t>
              </a:r>
              <a:r>
                <a:rPr lang="en-US" alt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\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是 </a:t>
              </a:r>
              <a:r>
                <a:rPr lang="zh-CN" sz="12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真实的物理现象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：Euler的非辛性质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010" y="5537835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导致系统性能量注入，减小步长只能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010" y="577596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减缓但 </a:t>
              </a:r>
              <a:r>
                <a:rPr lang="zh-CN" sz="1200" b="1" dirty="0">
                  <a:solidFill>
                    <a:srgbClr val="D4380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无法消除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这种漂移。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6077902"/>
              <a:ext cx="26169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这恰恰说明了为什么Euler不适合轨道积分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4362450"/>
              <a:ext cx="5334000" cy="20002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0" y="436245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3200" y="4505325"/>
              <a:ext cx="38500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Leapfrog 实测斜率 ~6.6（理论值 2.0）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7010" y="4823460"/>
              <a:ext cx="30468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dt ≤ 0.01 yr 后误差骤降至 </a:t>
              </a:r>
              <a:r>
                <a:rPr lang="zh-CN" sz="12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~10⁻¹⁰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以下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7010" y="5061585"/>
              <a:ext cx="22227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此时进入 </a:t>
              </a:r>
              <a:r>
                <a:rPr lang="zh-CN" sz="12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舍入误差主导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区域——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57010" y="52997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继续减小步长不再提高精度（受限于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7010" y="5537835"/>
              <a:ext cx="2694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双精度浮点数 ~10⁻¹⁶ 的机器精度）。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7010" y="5775960"/>
              <a:ext cx="30468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dt=0.001 时误差达 </a:t>
              </a:r>
              <a:r>
                <a:rPr lang="zh-CN" sz="12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10⁻¹⁴</a:t>
              </a:r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，接近极限。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58915" y="6077902"/>
              <a:ext cx="2904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测试条件：10年模拟 | 7组步长 (0.1~0.001 yr)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89007" y="6530816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</a:t>
            </a:r>
          </a:p>
        </p:txBody>
      </p:sp>
      <p:pic>
        <p:nvPicPr>
          <p:cNvPr id="29" name="图片 28" descr="convergence_te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" y="828040"/>
            <a:ext cx="7046595" cy="3534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9610" y="3181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代码架构与关键数据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1047750"/>
            <a:ext cx="3524250" cy="2881312"/>
            <a:chOff x="571500" y="1047750"/>
            <a:chExt cx="3524250" cy="2881312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524250" cy="276225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00011" y="1376261"/>
              <a:ext cx="219278" cy="219278"/>
              <a:chOff x="900011" y="1376261"/>
              <a:chExt cx="219278" cy="21927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09650" y="148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00011" y="137626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9441" y="19837"/>
                    </a:moveTo>
                    <a:cubicBezTo>
                      <a:pt x="179603" y="0"/>
                      <a:pt x="123241" y="24117"/>
                      <a:pt x="73711" y="73724"/>
                    </a:cubicBezTo>
                    <a:cubicBezTo>
                      <a:pt x="24117" y="123317"/>
                      <a:pt x="0" y="179603"/>
                      <a:pt x="19837" y="199454"/>
                    </a:cubicBezTo>
                    <a:cubicBezTo>
                      <a:pt x="39675" y="219278"/>
                      <a:pt x="96037" y="195161"/>
                      <a:pt x="145567" y="145555"/>
                    </a:cubicBezTo>
                    <a:cubicBezTo>
                      <a:pt x="195161" y="95961"/>
                      <a:pt x="219278" y="39675"/>
                      <a:pt x="199441" y="19825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00011" y="1376261"/>
                <a:ext cx="219278" cy="219278"/>
              </a:xfrm>
              <a:custGeom>
                <a:avLst/>
                <a:gdLst/>
                <a:ahLst/>
                <a:cxnLst/>
                <a:rect l="l" t="t" r="r" b="b"/>
                <a:pathLst>
                  <a:path w="219278" h="219278">
                    <a:moveTo>
                      <a:pt x="19837" y="19837"/>
                    </a:moveTo>
                    <a:cubicBezTo>
                      <a:pt x="0" y="39675"/>
                      <a:pt x="24117" y="96037"/>
                      <a:pt x="73723" y="145567"/>
                    </a:cubicBezTo>
                    <a:cubicBezTo>
                      <a:pt x="123317" y="195161"/>
                      <a:pt x="179603" y="219278"/>
                      <a:pt x="199453" y="199441"/>
                    </a:cubicBezTo>
                    <a:cubicBezTo>
                      <a:pt x="219278" y="179603"/>
                      <a:pt x="195161" y="123241"/>
                      <a:pt x="145555" y="73711"/>
                    </a:cubicBezTo>
                    <a:cubicBezTo>
                      <a:pt x="95961" y="24117"/>
                      <a:pt x="39675" y="0"/>
                      <a:pt x="19825" y="19837"/>
                    </a:cubicBezTo>
                  </a:path>
                </a:pathLst>
              </a:custGeom>
              <a:noFill/>
              <a:ln w="19050">
                <a:solidFill>
                  <a:srgbClr val="1A3A5C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57300" y="1381125"/>
              <a:ext cx="11407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physics.py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16883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物理核心模块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19240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915" y="205835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6CB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gravitational_acceleration()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1540" y="22679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半向量化引力计算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2553652"/>
              <a:ext cx="17138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6CB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compute_total_energy()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1540" y="2763202"/>
              <a:ext cx="1461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系统总机械能 E = K + 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915" y="3048952"/>
              <a:ext cx="1979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6CB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compute_orbital_elements()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1540" y="3258502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瞬时Kepler轨道根数 (a, e, i)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915" y="3544252"/>
              <a:ext cx="1874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6CB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init_solar_system_2body()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1540" y="3715702"/>
              <a:ext cx="1874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init_solar_system_3body()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333875" y="1047750"/>
            <a:ext cx="3524250" cy="2805112"/>
            <a:chOff x="4333875" y="1047750"/>
            <a:chExt cx="3524250" cy="2805112"/>
          </a:xfrm>
        </p:grpSpPr>
        <p:sp>
          <p:nvSpPr>
            <p:cNvPr id="25" name="Rectangle 25"/>
            <p:cNvSpPr/>
            <p:nvPr/>
          </p:nvSpPr>
          <p:spPr>
            <a:xfrm>
              <a:off x="4333875" y="1047750"/>
              <a:ext cx="3524250" cy="276225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33875" y="1047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657725" y="1371600"/>
              <a:ext cx="228600" cy="228600"/>
              <a:chOff x="4657725" y="1371600"/>
              <a:chExt cx="22860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657725" y="1371600"/>
                <a:ext cx="127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28600">
                    <a:moveTo>
                      <a:pt x="0" y="203200"/>
                    </a:moveTo>
                    <a:cubicBezTo>
                      <a:pt x="0" y="217228"/>
                      <a:pt x="11372" y="228600"/>
                      <a:pt x="25400" y="228600"/>
                    </a:cubicBezTo>
                    <a:cubicBezTo>
                      <a:pt x="50800" y="228600"/>
                      <a:pt x="50800" y="177800"/>
                      <a:pt x="63500" y="114300"/>
                    </a:cubicBezTo>
                    <a:cubicBezTo>
                      <a:pt x="76200" y="50800"/>
                      <a:pt x="76200" y="0"/>
                      <a:pt x="101600" y="0"/>
                    </a:cubicBezTo>
                    <a:cubicBezTo>
                      <a:pt x="115628" y="0"/>
                      <a:pt x="127000" y="11372"/>
                      <a:pt x="127000" y="25400"/>
                    </a:cubicBez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83125" y="14859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10125" y="1485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810125" y="1485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4380D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019675" y="1381125"/>
              <a:ext cx="11407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380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solvers.py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5338" y="16883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数值积分器模块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619625" y="19240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06290" y="20583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380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euler_integrate()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53915" y="2267902"/>
              <a:ext cx="10768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一阶显式Euler法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3915" y="24774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v_{n+1} = v_n + a_n·Δt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53915" y="26679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r_{n+1} = r_n + v_n·Δt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6290" y="301085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6CB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leapfrog_integrate()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53915" y="32204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速度Verlet (二阶辛)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53915" y="34299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对称交错格式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53915" y="3639502"/>
              <a:ext cx="1768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辛性质保证能量有界振荡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4048125"/>
            <a:ext cx="11049000" cy="1047750"/>
            <a:chOff x="571500" y="4048125"/>
            <a:chExt cx="11049000" cy="1047750"/>
          </a:xfrm>
        </p:grpSpPr>
        <p:sp>
          <p:nvSpPr>
            <p:cNvPr id="61" name="Rectangle 61"/>
            <p:cNvSpPr/>
            <p:nvPr/>
          </p:nvSpPr>
          <p:spPr>
            <a:xfrm>
              <a:off x="571500" y="4048125"/>
              <a:ext cx="2571750" cy="1047750"/>
            </a:xfrm>
            <a:prstGeom prst="roundRect">
              <a:avLst>
                <a:gd name="adj" fmla="val 9091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8665" y="424910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100年能量漂移 (Euler)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615" y="4487228"/>
              <a:ext cx="990656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latin typeface="宋体" panose="02010600030101010101" pitchFamily="2" charset="-122"/>
                  <a:ea typeface="宋体" panose="02010600030101010101" pitchFamily="2" charset="-122"/>
                  <a:cs typeface="Georgia" panose="02040502050405020303"/>
                </a:rPr>
                <a:t>+65.7%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9618" y="48477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轨道螺旋外扩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286125" y="4048125"/>
              <a:ext cx="2571750" cy="1047750"/>
            </a:xfrm>
            <a:prstGeom prst="roundRect">
              <a:avLst>
                <a:gd name="adj" fmla="val 9091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63290" y="4249102"/>
              <a:ext cx="1734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100年能量漂移 (Leapfrog)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444240" y="4487228"/>
              <a:ext cx="1399422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~10⁻¹⁴%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464242" y="48477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接近机器精度极限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00750" y="4048125"/>
              <a:ext cx="2571750" cy="1047750"/>
            </a:xfrm>
            <a:prstGeom prst="roundRect">
              <a:avLst>
                <a:gd name="adj" fmla="val 9091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77915" y="42491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误差比 (Euler/Leapfrog)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58865" y="4487228"/>
              <a:ext cx="1064394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&gt; 10¹³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78868" y="48477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结构性问题，非精度问题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715375" y="4048125"/>
              <a:ext cx="2905125" cy="1047750"/>
            </a:xfrm>
            <a:prstGeom prst="roundRect">
              <a:avLst>
                <a:gd name="adj" fmla="val 9091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92540" y="42491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模拟配置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90635" y="4537710"/>
              <a:ext cx="18867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dt = 0.001 yr, 100,000步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90635" y="477583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~1000步/轨道周期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1489007" y="6530816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18135"/>
            <a:ext cx="11049000" cy="548640"/>
            <a:chOff x="571500" y="318135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429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D4380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89610" y="3181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总结与展望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71500" y="1095375"/>
            <a:ext cx="11049000" cy="1762125"/>
            <a:chOff x="571500" y="1095375"/>
            <a:chExt cx="11049000" cy="1762125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1104900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D4380D"/>
                </a:gs>
                <a:gs pos="100000">
                  <a:srgbClr val="2B6CB0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1500" y="1333500"/>
              <a:ext cx="3524250" cy="1524000"/>
              <a:chOff x="571500" y="1333500"/>
              <a:chExt cx="3524250" cy="1524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333500"/>
                <a:ext cx="3524250" cy="1524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42950" y="1552575"/>
                <a:ext cx="419100" cy="419100"/>
              </a:xfrm>
              <a:prstGeom prst="ellipse">
                <a:avLst/>
              </a:prstGeom>
              <a:solidFill>
                <a:srgbClr val="2B6CB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1835" y="1644015"/>
                <a:ext cx="12132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B6CB0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16355" y="1664018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辛积分器是必需品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42962" y="2021681"/>
                <a:ext cx="23388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Leapfrog（辛）在长期轨道模拟中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42962" y="224075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表现出压倒性优势：能量保持在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42962" y="2459831"/>
                <a:ext cx="871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10⁻¹⁴% 量级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52712" y="2459831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，几乎完美守恒。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413885" y="1310640"/>
              <a:ext cx="3524250" cy="1524000"/>
              <a:chOff x="4413885" y="1310640"/>
              <a:chExt cx="3524250" cy="1524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413885" y="1310640"/>
                <a:ext cx="3524250" cy="1524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05325" y="1552575"/>
                <a:ext cx="419100" cy="419100"/>
              </a:xfrm>
              <a:prstGeom prst="ellipse">
                <a:avLst/>
              </a:prstGeom>
              <a:solidFill>
                <a:srgbClr val="D4380D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622706" y="1644015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D4380D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078730" y="1664018"/>
                <a:ext cx="20190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Euler的失败是结构性的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05338" y="2021681"/>
                <a:ext cx="21438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能量漂移不是简单的精度不足——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05338" y="22407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4380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非辛性质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557838" y="22407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导致系统性能量注入，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05338" y="2459831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减小步长只能减缓、无法消除。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3095625"/>
            <a:ext cx="11049000" cy="1619250"/>
            <a:chOff x="571500" y="3095625"/>
            <a:chExt cx="11049000" cy="1619250"/>
          </a:xfrm>
        </p:grpSpPr>
        <p:sp>
          <p:nvSpPr>
            <p:cNvPr id="35" name="Rectangle 35"/>
            <p:cNvSpPr/>
            <p:nvPr/>
          </p:nvSpPr>
          <p:spPr>
            <a:xfrm>
              <a:off x="571500" y="3095625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76367" y="3352819"/>
              <a:ext cx="190233" cy="180908"/>
            </a:xfrm>
            <a:custGeom>
              <a:avLst/>
              <a:gdLst/>
              <a:ahLst/>
              <a:cxnLst/>
              <a:rect l="l" t="t" r="r" b="b"/>
              <a:pathLst>
                <a:path w="190233" h="180908">
                  <a:moveTo>
                    <a:pt x="95183" y="150000"/>
                  </a:moveTo>
                  <a:lnTo>
                    <a:pt x="36395" y="180908"/>
                  </a:lnTo>
                  <a:lnTo>
                    <a:pt x="47625" y="115443"/>
                  </a:lnTo>
                  <a:lnTo>
                    <a:pt x="0" y="69085"/>
                  </a:lnTo>
                  <a:lnTo>
                    <a:pt x="65722" y="59560"/>
                  </a:lnTo>
                  <a:lnTo>
                    <a:pt x="95117" y="0"/>
                  </a:lnTo>
                  <a:lnTo>
                    <a:pt x="124511" y="59560"/>
                  </a:lnTo>
                  <a:lnTo>
                    <a:pt x="190233" y="69085"/>
                  </a:lnTo>
                  <a:lnTo>
                    <a:pt x="142608" y="115443"/>
                  </a:lnTo>
                  <a:lnTo>
                    <a:pt x="153838" y="180908"/>
                  </a:lnTo>
                  <a:lnTo>
                    <a:pt x="95183" y="150000"/>
                  </a:lnTo>
                </a:path>
              </a:pathLst>
            </a:custGeom>
            <a:noFill/>
            <a:ln w="19050">
              <a:solidFill>
                <a:srgbClr val="D4380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60145" y="32985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未来改进方向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571500" y="3762375"/>
              <a:ext cx="11049000" cy="952500"/>
              <a:chOff x="571500" y="3762375"/>
              <a:chExt cx="11049000" cy="952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3762375"/>
                <a:ext cx="257175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46760" y="3947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A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更多天体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48665" y="41919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添加金星、火星等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48665" y="441102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模拟更真实的太阳系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286125" y="3762375"/>
                <a:ext cx="257175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461385" y="39471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A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自适应步长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463290" y="4191952"/>
                <a:ext cx="116081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近心点自动减小Δt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463290" y="441102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提高轨道近点精度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6000750" y="3762375"/>
                <a:ext cx="257175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176010" y="39471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A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高阶辛积分器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177915" y="4191952"/>
                <a:ext cx="10908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四阶Yoshida方法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177915" y="4411028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更高精度 + 保持辛性质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715375" y="3762375"/>
                <a:ext cx="29051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890635" y="3947160"/>
                <a:ext cx="13998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A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参数扫描 + 并行化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892540" y="4191952"/>
                <a:ext cx="13638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Kozai-Lidov相图绘制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892540" y="4411028"/>
                <a:ext cx="1132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OpenMP/GPU加速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5341858" y="6457950"/>
            <a:ext cx="6289120" cy="304800"/>
            <a:chOff x="5341858" y="6457950"/>
            <a:chExt cx="6289120" cy="304800"/>
          </a:xfrm>
        </p:grpSpPr>
        <p:sp>
          <p:nvSpPr>
            <p:cNvPr id="70" name="TextBox 70"/>
            <p:cNvSpPr txBox="1"/>
            <p:nvPr/>
          </p:nvSpPr>
          <p:spPr>
            <a:xfrm>
              <a:off x="5341858" y="6457950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A5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谢谢！欢迎提问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16511" y="6530816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75,&quot;left&quot;:45,&quot;top&quot;:78.75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2436</Words>
  <Application>Microsoft Office PowerPoint</Application>
  <PresentationFormat>宽屏</PresentationFormat>
  <Paragraphs>210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Arial</vt:lpstr>
      <vt:lpstr>Calibri</vt:lpstr>
      <vt:lpstr>Cambria Math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澄业 林</cp:lastModifiedBy>
  <cp:revision>3</cp:revision>
  <dcterms:created xsi:type="dcterms:W3CDTF">2013-01-27T09:14:00Z</dcterms:created>
  <dcterms:modified xsi:type="dcterms:W3CDTF">2026-07-01T14:38:34Z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17CC5AFAF90847A0A164306821C8EEA1_12</vt:lpwstr>
  </property>
  <property fmtid="{D5CDD505-2E9C-101B-9397-08002B2CF9AE}" pid="3" name="KSOProductBuildVer">
    <vt:lpwstr>2052-12.1.0.21171</vt:lpwstr>
  </property>
</Properties>
</file>